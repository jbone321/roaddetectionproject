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C603-6414-9845-A3D9-0E71A49417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D68D-D995-E04B-AC36-5AA8EB462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04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C603-6414-9845-A3D9-0E71A49417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D68D-D995-E04B-AC36-5AA8EB462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525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C603-6414-9845-A3D9-0E71A49417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D68D-D995-E04B-AC36-5AA8EB462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3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C603-6414-9845-A3D9-0E71A49417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D68D-D995-E04B-AC36-5AA8EB462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241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C603-6414-9845-A3D9-0E71A49417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D68D-D995-E04B-AC36-5AA8EB462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331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C603-6414-9845-A3D9-0E71A49417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D68D-D995-E04B-AC36-5AA8EB462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01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C603-6414-9845-A3D9-0E71A49417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D68D-D995-E04B-AC36-5AA8EB462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53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C603-6414-9845-A3D9-0E71A49417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D68D-D995-E04B-AC36-5AA8EB462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959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C603-6414-9845-A3D9-0E71A49417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D68D-D995-E04B-AC36-5AA8EB462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75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C603-6414-9845-A3D9-0E71A49417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D68D-D995-E04B-AC36-5AA8EB462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75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C603-6414-9845-A3D9-0E71A49417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BD68D-D995-E04B-AC36-5AA8EB462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112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5FAC603-6414-9845-A3D9-0E71A49417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D4BD68D-D995-E04B-AC36-5AA8EB462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485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48F64AA-5BE2-4280-BEFA-DC288118F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collage of a road&#10;&#10;AI-generated content may be incorrect.">
            <a:extLst>
              <a:ext uri="{FF2B5EF4-FFF2-40B4-BE49-F238E27FC236}">
                <a16:creationId xmlns:a16="http://schemas.microsoft.com/office/drawing/2014/main" id="{7E7CA173-8BB0-5518-F224-4740849DD7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17" r="18941"/>
          <a:stretch>
            <a:fillRect/>
          </a:stretch>
        </p:blipFill>
        <p:spPr>
          <a:xfrm>
            <a:off x="20" y="2"/>
            <a:ext cx="7534620" cy="4197368"/>
          </a:xfrm>
          <a:custGeom>
            <a:avLst/>
            <a:gdLst/>
            <a:ahLst/>
            <a:cxnLst/>
            <a:rect l="l" t="t" r="r" b="b"/>
            <a:pathLst>
              <a:path w="7534640" h="4197368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509063" y="4095753"/>
                  <a:pt x="4453918" y="4128339"/>
                  <a:pt x="4430941" y="4172622"/>
                </a:cubicBezTo>
                <a:lnTo>
                  <a:pt x="4423415" y="4197368"/>
                </a:lnTo>
                <a:lnTo>
                  <a:pt x="0" y="4197368"/>
                </a:lnTo>
                <a:close/>
              </a:path>
            </a:pathLst>
          </a:custGeom>
        </p:spPr>
      </p:pic>
      <p:pic>
        <p:nvPicPr>
          <p:cNvPr id="5" name="Picture 4" descr="A screenshot of a video&#10;&#10;AI-generated content may be incorrect.">
            <a:extLst>
              <a:ext uri="{FF2B5EF4-FFF2-40B4-BE49-F238E27FC236}">
                <a16:creationId xmlns:a16="http://schemas.microsoft.com/office/drawing/2014/main" id="{F03E0D7B-F862-618D-A08D-9C2DD88826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282" r="37260"/>
          <a:stretch>
            <a:fillRect/>
          </a:stretch>
        </p:blipFill>
        <p:spPr>
          <a:xfrm>
            <a:off x="7653536" y="1"/>
            <a:ext cx="4538463" cy="3877247"/>
          </a:xfrm>
          <a:custGeom>
            <a:avLst/>
            <a:gdLst/>
            <a:ahLst/>
            <a:cxnLst/>
            <a:rect l="l" t="t" r="r" b="b"/>
            <a:pathLst>
              <a:path w="4538463" h="3877247">
                <a:moveTo>
                  <a:pt x="0" y="0"/>
                </a:moveTo>
                <a:lnTo>
                  <a:pt x="4538463" y="0"/>
                </a:lnTo>
                <a:lnTo>
                  <a:pt x="4538463" y="3437173"/>
                </a:lnTo>
                <a:lnTo>
                  <a:pt x="4530710" y="3429000"/>
                </a:lnTo>
                <a:cubicBezTo>
                  <a:pt x="4370289" y="3495842"/>
                  <a:pt x="4239946" y="3686344"/>
                  <a:pt x="4056129" y="3636211"/>
                </a:cubicBezTo>
                <a:cubicBezTo>
                  <a:pt x="3872313" y="3589422"/>
                  <a:pt x="3788760" y="3830055"/>
                  <a:pt x="3618310" y="3756528"/>
                </a:cubicBezTo>
                <a:cubicBezTo>
                  <a:pt x="3394389" y="3823371"/>
                  <a:pt x="3163783" y="3823371"/>
                  <a:pt x="2933176" y="3810002"/>
                </a:cubicBezTo>
                <a:cubicBezTo>
                  <a:pt x="2702570" y="3840081"/>
                  <a:pt x="2471962" y="3873503"/>
                  <a:pt x="2238015" y="3850107"/>
                </a:cubicBezTo>
                <a:cubicBezTo>
                  <a:pt x="2007408" y="3870161"/>
                  <a:pt x="1783486" y="3883529"/>
                  <a:pt x="1552880" y="3863476"/>
                </a:cubicBezTo>
                <a:cubicBezTo>
                  <a:pt x="1322274" y="3886870"/>
                  <a:pt x="1091667" y="3876844"/>
                  <a:pt x="864402" y="3860134"/>
                </a:cubicBezTo>
                <a:cubicBezTo>
                  <a:pt x="757455" y="3860134"/>
                  <a:pt x="653849" y="3856792"/>
                  <a:pt x="546902" y="3856792"/>
                </a:cubicBezTo>
                <a:cubicBezTo>
                  <a:pt x="404861" y="3850108"/>
                  <a:pt x="262821" y="3845095"/>
                  <a:pt x="120363" y="3840499"/>
                </a:cubicBezTo>
                <a:lnTo>
                  <a:pt x="0" y="3836632"/>
                </a:lnTo>
                <a:close/>
              </a:path>
            </a:pathLst>
          </a:custGeom>
        </p:spPr>
      </p:pic>
      <p:pic>
        <p:nvPicPr>
          <p:cNvPr id="7" name="Picture 6" descr="A collage of a road sign&#10;&#10;AI-generated content may be incorrect.">
            <a:extLst>
              <a:ext uri="{FF2B5EF4-FFF2-40B4-BE49-F238E27FC236}">
                <a16:creationId xmlns:a16="http://schemas.microsoft.com/office/drawing/2014/main" id="{D79A3A5C-D882-68CC-60D3-7A463B11C2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838" r="2086" b="-2"/>
          <a:stretch>
            <a:fillRect/>
          </a:stretch>
        </p:blipFill>
        <p:spPr>
          <a:xfrm>
            <a:off x="1" y="4316255"/>
            <a:ext cx="6836850" cy="2541737"/>
          </a:xfrm>
          <a:custGeom>
            <a:avLst/>
            <a:gdLst/>
            <a:ahLst/>
            <a:cxnLst/>
            <a:rect l="l" t="t" r="r" b="b"/>
            <a:pathLst>
              <a:path w="6836850" h="2541737">
                <a:moveTo>
                  <a:pt x="0" y="0"/>
                </a:moveTo>
                <a:lnTo>
                  <a:pt x="4460098" y="0"/>
                </a:lnTo>
                <a:lnTo>
                  <a:pt x="4483996" y="31836"/>
                </a:lnTo>
                <a:cubicBezTo>
                  <a:pt x="4644419" y="28495"/>
                  <a:pt x="4627708" y="282495"/>
                  <a:pt x="4788129" y="245732"/>
                </a:cubicBezTo>
                <a:cubicBezTo>
                  <a:pt x="4754709" y="362707"/>
                  <a:pt x="4641076" y="302548"/>
                  <a:pt x="4600971" y="389443"/>
                </a:cubicBezTo>
                <a:cubicBezTo>
                  <a:pt x="4684524" y="462970"/>
                  <a:pt x="4844945" y="409497"/>
                  <a:pt x="4871683" y="563233"/>
                </a:cubicBezTo>
                <a:cubicBezTo>
                  <a:pt x="4838262" y="723655"/>
                  <a:pt x="4945210" y="703602"/>
                  <a:pt x="5032105" y="713629"/>
                </a:cubicBezTo>
                <a:cubicBezTo>
                  <a:pt x="5239317" y="733683"/>
                  <a:pt x="5439843" y="747050"/>
                  <a:pt x="5643713" y="780472"/>
                </a:cubicBezTo>
                <a:cubicBezTo>
                  <a:pt x="5693844" y="790498"/>
                  <a:pt x="5810819" y="767103"/>
                  <a:pt x="5800794" y="870709"/>
                </a:cubicBezTo>
                <a:cubicBezTo>
                  <a:pt x="5790767" y="954261"/>
                  <a:pt x="5700529" y="924184"/>
                  <a:pt x="5643713" y="927525"/>
                </a:cubicBezTo>
                <a:cubicBezTo>
                  <a:pt x="5329553" y="967632"/>
                  <a:pt x="5012052" y="904131"/>
                  <a:pt x="4701235" y="907472"/>
                </a:cubicBezTo>
                <a:cubicBezTo>
                  <a:pt x="4664472" y="907472"/>
                  <a:pt x="4657787" y="1017762"/>
                  <a:pt x="4577576" y="980999"/>
                </a:cubicBezTo>
                <a:cubicBezTo>
                  <a:pt x="4788129" y="1081263"/>
                  <a:pt x="5767372" y="1108001"/>
                  <a:pt x="6094900" y="1161474"/>
                </a:cubicBezTo>
                <a:cubicBezTo>
                  <a:pt x="5754004" y="1542477"/>
                  <a:pt x="5429817" y="1311870"/>
                  <a:pt x="5159105" y="1525765"/>
                </a:cubicBezTo>
                <a:cubicBezTo>
                  <a:pt x="5159105" y="1525765"/>
                  <a:pt x="5212580" y="1525765"/>
                  <a:pt x="5443187" y="1595950"/>
                </a:cubicBezTo>
                <a:cubicBezTo>
                  <a:pt x="5627002" y="1652765"/>
                  <a:pt x="5536765" y="1732976"/>
                  <a:pt x="6001321" y="1886715"/>
                </a:cubicBezTo>
                <a:cubicBezTo>
                  <a:pt x="5824188" y="1936846"/>
                  <a:pt x="5593581" y="1839925"/>
                  <a:pt x="5506685" y="2100610"/>
                </a:cubicBezTo>
                <a:cubicBezTo>
                  <a:pt x="5643713" y="2147401"/>
                  <a:pt x="5807477" y="2103953"/>
                  <a:pt x="5904398" y="2227611"/>
                </a:cubicBezTo>
                <a:cubicBezTo>
                  <a:pt x="5934478" y="2264375"/>
                  <a:pt x="5964557" y="2287770"/>
                  <a:pt x="6001321" y="2307821"/>
                </a:cubicBezTo>
                <a:cubicBezTo>
                  <a:pt x="5984612" y="2314507"/>
                  <a:pt x="5964557" y="2321190"/>
                  <a:pt x="5951188" y="2327874"/>
                </a:cubicBezTo>
                <a:cubicBezTo>
                  <a:pt x="5977925" y="2351271"/>
                  <a:pt x="6663060" y="2478270"/>
                  <a:pt x="6836850" y="2481613"/>
                </a:cubicBezTo>
                <a:cubicBezTo>
                  <a:pt x="6761652" y="2506679"/>
                  <a:pt x="6636845" y="2527828"/>
                  <a:pt x="6553814" y="2540165"/>
                </a:cubicBezTo>
                <a:lnTo>
                  <a:pt x="6542822" y="2541737"/>
                </a:lnTo>
                <a:lnTo>
                  <a:pt x="0" y="254173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8178DA-E15E-FF40-7A27-84BA08AB9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3650" y="3996130"/>
            <a:ext cx="5505814" cy="1576910"/>
          </a:xfrm>
        </p:spPr>
        <p:txBody>
          <a:bodyPr anchor="b">
            <a:normAutofit/>
          </a:bodyPr>
          <a:lstStyle/>
          <a:p>
            <a:pPr algn="l"/>
            <a:r>
              <a:rPr lang="en-US" sz="4400"/>
              <a:t>Road Detection Final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0F5F7E-5644-C0FC-C74B-5CE251FC07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5638800"/>
            <a:ext cx="5505814" cy="646785"/>
          </a:xfrm>
        </p:spPr>
        <p:txBody>
          <a:bodyPr>
            <a:normAutofit/>
          </a:bodyPr>
          <a:lstStyle/>
          <a:p>
            <a:pPr algn="l"/>
            <a:r>
              <a:rPr lang="en-US"/>
              <a:t>Jason Bone</a:t>
            </a:r>
          </a:p>
        </p:txBody>
      </p:sp>
    </p:spTree>
    <p:extLst>
      <p:ext uri="{BB962C8B-B14F-4D97-AF65-F5344CB8AC3E}">
        <p14:creationId xmlns:p14="http://schemas.microsoft.com/office/powerpoint/2010/main" val="323243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FDCAD6-0B7A-0756-EF52-33208143B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</p:spPr>
        <p:txBody>
          <a:bodyPr>
            <a:normAutofit/>
          </a:bodyPr>
          <a:lstStyle/>
          <a:p>
            <a:r>
              <a:rPr lang="en-US" sz="4000"/>
              <a:t>Final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CE1F8-B22E-D8F0-CDD2-0B0AD4309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321476"/>
            <a:ext cx="4864875" cy="3850724"/>
          </a:xfrm>
        </p:spPr>
        <p:txBody>
          <a:bodyPr anchor="ctr">
            <a:normAutofit/>
          </a:bodyPr>
          <a:lstStyle/>
          <a:p>
            <a:r>
              <a:rPr lang="en-US" sz="1600"/>
              <a:t>Due to time constrains and issues with Faster R-CNN and Google Colab, used only YOLOv8 model compared to results reported for other models.</a:t>
            </a:r>
          </a:p>
          <a:p>
            <a:r>
              <a:rPr lang="en-US" sz="1600"/>
              <a:t>While comparisons are not one-to-one still provides valuable insight.</a:t>
            </a:r>
          </a:p>
          <a:p>
            <a:r>
              <a:rPr lang="en-US" sz="1600"/>
              <a:t>15k COCO Images for 30 epochs ~7500 KITTI Images at 80/20 split for 60 epochs</a:t>
            </a:r>
          </a:p>
          <a:p>
            <a:r>
              <a:rPr lang="en-US" sz="1600"/>
              <a:t>YOLO: class_id  x_center  y_center  width  height</a:t>
            </a:r>
          </a:p>
          <a:p>
            <a:r>
              <a:rPr lang="en-US" sz="1600"/>
              <a:t>KITTI: type  truncated  occluded  alpha  bbox_left  bbox_top  bbox_right  bbox_bottom  dimensions_height  dimensions_width  dimensions_length  location_x  location_y  location_z  rotation_y</a:t>
            </a:r>
          </a:p>
          <a:p>
            <a:r>
              <a:rPr lang="en-US" sz="1600"/>
              <a:t>COCO: JSON format</a:t>
            </a:r>
          </a:p>
          <a:p>
            <a:endParaRPr lang="en-US" sz="1600"/>
          </a:p>
        </p:txBody>
      </p:sp>
      <p:pic>
        <p:nvPicPr>
          <p:cNvPr id="5" name="Picture 4" descr="A graph of a loss&#10;&#10;AI-generated content may be incorrect.">
            <a:extLst>
              <a:ext uri="{FF2B5EF4-FFF2-40B4-BE49-F238E27FC236}">
                <a16:creationId xmlns:a16="http://schemas.microsoft.com/office/drawing/2014/main" id="{2430F483-A5FE-8855-A56C-FB7168874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504" y="2755558"/>
            <a:ext cx="5528352" cy="276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684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4BDE8-9B9E-2892-BB3B-6994F358D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Metric Comparisons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4C72369-4D43-78D8-500C-6F461D607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802" y="1848510"/>
            <a:ext cx="4864875" cy="38507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defTabSz="9144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u="none" strike="noStrike" cap="none" normalizeH="0" baseline="0" dirty="0">
                <a:ln>
                  <a:noFill/>
                </a:ln>
                <a:effectLst/>
                <a:latin typeface="+mn-lt"/>
              </a:rPr>
              <a:t>Key metrics comparison for reported KITTI results from community benchmarks</a:t>
            </a:r>
            <a:r>
              <a:rPr lang="en-US" altLang="en-US" sz="2000" dirty="0">
                <a:latin typeface="+mn-lt"/>
              </a:rPr>
              <a:t> 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effectLst/>
                <a:latin typeface="+mn-lt"/>
              </a:rPr>
              <a:t>and leaderboard submissions.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31EBBA-3C8D-01D9-2242-EB25C7799D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2492427"/>
              </p:ext>
            </p:extLst>
          </p:nvPr>
        </p:nvGraphicFramePr>
        <p:xfrm>
          <a:off x="6320234" y="2652918"/>
          <a:ext cx="5178209" cy="2475966"/>
        </p:xfrm>
        <a:graphic>
          <a:graphicData uri="http://schemas.openxmlformats.org/drawingml/2006/table">
            <a:tbl>
              <a:tblPr firstRow="1" firstCol="1" bandRow="1"/>
              <a:tblGrid>
                <a:gridCol w="884678">
                  <a:extLst>
                    <a:ext uri="{9D8B030D-6E8A-4147-A177-3AD203B41FA5}">
                      <a16:colId xmlns:a16="http://schemas.microsoft.com/office/drawing/2014/main" val="1567456248"/>
                    </a:ext>
                  </a:extLst>
                </a:gridCol>
                <a:gridCol w="994216">
                  <a:extLst>
                    <a:ext uri="{9D8B030D-6E8A-4147-A177-3AD203B41FA5}">
                      <a16:colId xmlns:a16="http://schemas.microsoft.com/office/drawing/2014/main" val="4153576353"/>
                    </a:ext>
                  </a:extLst>
                </a:gridCol>
                <a:gridCol w="1392540">
                  <a:extLst>
                    <a:ext uri="{9D8B030D-6E8A-4147-A177-3AD203B41FA5}">
                      <a16:colId xmlns:a16="http://schemas.microsoft.com/office/drawing/2014/main" val="3433228532"/>
                    </a:ext>
                  </a:extLst>
                </a:gridCol>
                <a:gridCol w="1857475">
                  <a:extLst>
                    <a:ext uri="{9D8B030D-6E8A-4147-A177-3AD203B41FA5}">
                      <a16:colId xmlns:a16="http://schemas.microsoft.com/office/drawing/2014/main" val="3690993482"/>
                    </a:ext>
                  </a:extLst>
                </a:gridCol>
                <a:gridCol w="49300">
                  <a:extLst>
                    <a:ext uri="{9D8B030D-6E8A-4147-A177-3AD203B41FA5}">
                      <a16:colId xmlns:a16="http://schemas.microsoft.com/office/drawing/2014/main" val="1986961147"/>
                    </a:ext>
                  </a:extLst>
                </a:gridCol>
              </a:tblGrid>
              <a:tr h="333636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mAP@0.5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mAP@0.5:0.95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b="1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buNone/>
                      </a:pP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772615"/>
                  </a:ext>
                </a:extLst>
              </a:tr>
              <a:tr h="597486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b="0" i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YOLOv8 (Ours)</a:t>
                      </a: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90.0%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64.3%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KITTI-val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buNone/>
                      </a:pP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405363"/>
                  </a:ext>
                </a:extLst>
              </a:tr>
              <a:tr h="597486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Faster R-CNN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78.1%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57.6%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KITTI-test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buNone/>
                      </a:pP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125923"/>
                  </a:ext>
                </a:extLst>
              </a:tr>
              <a:tr h="333636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SSD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75.3%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54.2%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KITTI-test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buNone/>
                      </a:pP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030736"/>
                  </a:ext>
                </a:extLst>
              </a:tr>
              <a:tr h="333636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YOLOv3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72.1%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51.8%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buNone/>
                      </a:pPr>
                      <a:r>
                        <a:rPr lang="en-US" sz="1500" b="0" i="0" u="none" strike="noStrike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KITTI-test</a:t>
                      </a:r>
                      <a:endParaRPr lang="en-US" sz="2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buNone/>
                      </a:pPr>
                      <a:endParaRPr lang="en-US" sz="2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0" marR="11950" marT="11950" marB="119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951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7208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4275A-0127-E7BA-FDAD-06C71DADD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762001"/>
            <a:ext cx="4080362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18775-7EEB-5234-521C-78EDE75BB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3" y="2470244"/>
            <a:ext cx="4080361" cy="3769834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1700" dirty="0"/>
              <a:t>YOLOv8 and more advanced single-stage object detection models outperform two-stage models overall by having much faster speeds while still competing in accuracy.</a:t>
            </a:r>
          </a:p>
          <a:p>
            <a:r>
              <a:rPr lang="en-US" sz="1700" dirty="0"/>
              <a:t>YOLO gets better with every iteration and continued advancements in the single-stage models will help push autonomous driving forward.</a:t>
            </a:r>
          </a:p>
          <a:p>
            <a:r>
              <a:rPr lang="en-US" sz="1700" dirty="0"/>
              <a:t>Even though KITTI is a great test set only roads from one environment is still far too general for a real-world object detector for </a:t>
            </a:r>
            <a:r>
              <a:rPr lang="en-US" sz="1700"/>
              <a:t>a vehicle</a:t>
            </a:r>
            <a:endParaRPr lang="en-US" sz="1700" dirty="0"/>
          </a:p>
          <a:p>
            <a:r>
              <a:rPr lang="en-US" sz="1700" dirty="0"/>
              <a:t>Even at </a:t>
            </a:r>
            <a:r>
              <a:rPr lang="en-US" sz="1700" dirty="0" err="1"/>
              <a:t>mAP</a:t>
            </a:r>
            <a:r>
              <a:rPr lang="en-US" sz="1700" dirty="0"/>
              <a:t> of 90% further improvements would be required if our model were to ever be applied.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with numbers and a blue square&#10;&#10;AI-generated content may be incorrect.">
            <a:extLst>
              <a:ext uri="{FF2B5EF4-FFF2-40B4-BE49-F238E27FC236}">
                <a16:creationId xmlns:a16="http://schemas.microsoft.com/office/drawing/2014/main" id="{9562B59F-DC1E-1C9B-1952-DD5B54EAE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914328"/>
            <a:ext cx="6781800" cy="508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44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257</Words>
  <Application>Microsoft Macintosh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Theme</vt:lpstr>
      <vt:lpstr>Road Detection Final Presentation</vt:lpstr>
      <vt:lpstr>Final Methodology</vt:lpstr>
      <vt:lpstr>Metric Comparisons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Bone, Jason Nathaniel</dc:creator>
  <cp:lastModifiedBy>Bone, Jason Nathaniel</cp:lastModifiedBy>
  <cp:revision>1</cp:revision>
  <dcterms:created xsi:type="dcterms:W3CDTF">2025-12-01T05:35:40Z</dcterms:created>
  <dcterms:modified xsi:type="dcterms:W3CDTF">2025-12-01T06:13:31Z</dcterms:modified>
</cp:coreProperties>
</file>